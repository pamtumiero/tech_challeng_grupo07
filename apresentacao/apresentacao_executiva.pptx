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DE0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6070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Geografia e Categorias:</a:t>
            </a:r>
          </a:p>
          <a:p>
            <a:pPr algn="l">
              <a:lnSpc>
                <a:spcPct val="110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destravar o Brasil além do Sudeste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6576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>
                <a:solidFill>
                  <a:srgbClr val="DE0078"/>
                </a:solidFill>
                <a:latin typeface="Calibri"/>
              </a:rPr>
              <a:t>Análise de dados · Tech Challenge Fase 1 (POSTECH DTAT)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3891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8C8C8C"/>
                </a:solidFill>
                <a:latin typeface="Calibri"/>
              </a:rPr>
              <a:t>Brazilian E-Commerce Public Dataset by Olist · 64,6% da receita está no Sudeste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53212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FFFFFF"/>
                </a:solidFill>
                <a:latin typeface="Calibri"/>
              </a:rPr>
              <a:t>Lucas Aguiar de Moura (RM375551) · Pamela Regina Tumiero da Costa (RM374909) · Guilherme Augusto Justino da Silva (RM374370)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FFFFFF"/>
                </a:solidFill>
                <a:latin typeface="Calibri"/>
              </a:rPr>
              <a:t>Mariana Nogueira Salgado Zeron (RM374774) · Vitor Martino (RM374436)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E0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>
                <a:solidFill>
                  <a:srgbClr val="1F1F1F"/>
                </a:solidFill>
                <a:latin typeface="Calibri"/>
              </a:rPr>
              <a:t>O problema: um e-commerce do Sudeste</a:t>
            </a:r>
          </a:p>
        </p:txBody>
      </p:sp>
      <p:pic>
        <p:nvPicPr>
          <p:cNvPr id="4" name="Picture 3" descr="geo_00_panora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492635"/>
            <a:ext cx="6949440" cy="25128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98079" y="1280160"/>
            <a:ext cx="4389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1F1F1F"/>
                </a:solidFill>
                <a:latin typeface="Calibri"/>
              </a:rPr>
              <a:t>As regiões críticas: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79" y="1828800"/>
            <a:ext cx="146304" cy="1143000"/>
          </a:xfrm>
          <a:prstGeom prst="rect">
            <a:avLst/>
          </a:prstGeom>
          <a:solidFill>
            <a:srgbClr val="5B6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182880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F1F1F"/>
                </a:solidFill>
                <a:latin typeface="Calibri"/>
              </a:rPr>
              <a:t>Norte — restrição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240280"/>
            <a:ext cx="4114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8C8C8C"/>
                </a:solidFill>
                <a:latin typeface="Calibri"/>
              </a:rPr>
              <a:t>Barreira geográfica (rios, estradas). Fora do alcance da empresa.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79" y="3200400"/>
            <a:ext cx="146304" cy="1143000"/>
          </a:xfrm>
          <a:prstGeom prst="rect">
            <a:avLst/>
          </a:prstGeom>
          <a:solidFill>
            <a:srgbClr val="DE0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0" y="320040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F1F1F"/>
                </a:solidFill>
                <a:latin typeface="Calibri"/>
              </a:rPr>
              <a:t>NE / CO — foco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3611880"/>
            <a:ext cx="4114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8C8C8C"/>
                </a:solidFill>
                <a:latin typeface="Calibri"/>
              </a:rPr>
              <a:t>Demanda premium reprimida. Onde a solução tem retorno.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79" y="4572000"/>
            <a:ext cx="146304" cy="1143000"/>
          </a:xfrm>
          <a:prstGeom prst="rect">
            <a:avLst/>
          </a:prstGeom>
          <a:solidFill>
            <a:srgbClr val="00A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457200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F1F1F"/>
                </a:solidFill>
                <a:latin typeface="Calibri"/>
              </a:rPr>
              <a:t>Sul — benchmark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4983480"/>
            <a:ext cx="4114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8C8C8C"/>
                </a:solidFill>
                <a:latin typeface="Calibri"/>
              </a:rPr>
              <a:t>A região fora do Sudeste que deu certo.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1F1F1F"/>
                </a:solidFill>
                <a:latin typeface="Calibri"/>
              </a:rPr>
              <a:t>Adendo — usamos apenas pedidos entregues</a:t>
            </a:r>
          </a:p>
        </p:txBody>
      </p:sp>
      <p:pic>
        <p:nvPicPr>
          <p:cNvPr id="4" name="Picture 3" descr="geo_adendo_stat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220410"/>
            <a:ext cx="7863840" cy="2600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0" y="1417320"/>
            <a:ext cx="365760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300" b="0">
                <a:solidFill>
                  <a:srgbClr val="1F1F1F"/>
                </a:solidFill>
                <a:latin typeface="Calibri"/>
              </a:rPr>
              <a:t>Escopo: só 'delivered'</a:t>
            </a:r>
          </a:p>
          <a:p>
            <a:pPr algn="l">
              <a:lnSpc>
                <a:spcPct val="116000"/>
              </a:lnSpc>
            </a:pPr>
            <a:r>
              <a:rPr sz="1300" b="0">
                <a:solidFill>
                  <a:srgbClr val="1F1F1F"/>
                </a:solidFill>
                <a:latin typeface="Calibri"/>
              </a:rPr>
              <a:t>(96.478).</a:t>
            </a:r>
          </a:p>
          <a:p>
            <a:pPr algn="l">
              <a:lnSpc>
                <a:spcPct val="116000"/>
              </a:lnSpc>
            </a:pPr>
            <a:r>
              <a:rPr sz="1300" b="0">
                <a:solidFill>
                  <a:srgbClr val="1F1F1F"/>
                </a:solidFill>
                <a:latin typeface="Calibri"/>
              </a:rPr>
              <a:t/>
            </a:r>
          </a:p>
          <a:p>
            <a:pPr algn="l">
              <a:lnSpc>
                <a:spcPct val="116000"/>
              </a:lnSpc>
            </a:pPr>
            <a:r>
              <a:rPr sz="1300" b="0">
                <a:solidFill>
                  <a:srgbClr val="1F1F1F"/>
                </a:solidFill>
                <a:latin typeface="Calibri"/>
              </a:rPr>
              <a:t>Os 2.963 não entregues (FORA):</a:t>
            </a:r>
          </a:p>
          <a:p>
            <a:pPr algn="l">
              <a:lnSpc>
                <a:spcPct val="116000"/>
              </a:lnSpc>
            </a:pPr>
            <a:r>
              <a:rPr sz="1300" b="0">
                <a:solidFill>
                  <a:srgbClr val="1F1F1F"/>
                </a:solidFill>
                <a:latin typeface="Calibri"/>
              </a:rPr>
              <a:t>• 1.107 perdidos no transporte</a:t>
            </a:r>
          </a:p>
          <a:p>
            <a:pPr algn="l">
              <a:lnSpc>
                <a:spcPct val="116000"/>
              </a:lnSpc>
            </a:pPr>
            <a:r>
              <a:rPr sz="1300" b="0">
                <a:solidFill>
                  <a:srgbClr val="1F1F1F"/>
                </a:solidFill>
                <a:latin typeface="Calibri"/>
              </a:rPr>
              <a:t>• 625 cancelados</a:t>
            </a:r>
          </a:p>
          <a:p>
            <a:pPr algn="l">
              <a:lnSpc>
                <a:spcPct val="116000"/>
              </a:lnSpc>
            </a:pPr>
            <a:r>
              <a:rPr sz="1300" b="0">
                <a:solidFill>
                  <a:srgbClr val="1F1F1F"/>
                </a:solidFill>
                <a:latin typeface="Calibri"/>
              </a:rPr>
              <a:t>• 609 sem estoque</a:t>
            </a:r>
          </a:p>
          <a:p>
            <a:pPr algn="l">
              <a:lnSpc>
                <a:spcPct val="116000"/>
              </a:lnSpc>
            </a:pPr>
            <a:r>
              <a:rPr sz="1300" b="0">
                <a:solidFill>
                  <a:srgbClr val="1F1F1F"/>
                </a:solidFill>
                <a:latin typeface="Calibri"/>
              </a:rPr>
              <a:t>• 622 travados no funil</a:t>
            </a:r>
          </a:p>
          <a:p>
            <a:pPr algn="l">
              <a:lnSpc>
                <a:spcPct val="116000"/>
              </a:lnSpc>
            </a:pPr>
            <a:r>
              <a:rPr sz="1300" b="0">
                <a:solidFill>
                  <a:srgbClr val="1F1F1F"/>
                </a:solidFill>
                <a:latin typeface="Calibri"/>
              </a:rPr>
              <a:t/>
            </a:r>
          </a:p>
          <a:p>
            <a:pPr algn="l">
              <a:lnSpc>
                <a:spcPct val="116000"/>
              </a:lnSpc>
            </a:pPr>
            <a:r>
              <a:rPr sz="1300" b="0">
                <a:solidFill>
                  <a:srgbClr val="1F1F1F"/>
                </a:solidFill>
                <a:latin typeface="Calibri"/>
              </a:rPr>
              <a:t>São falhas reais (nota 1,3–2,0):</a:t>
            </a:r>
          </a:p>
          <a:p>
            <a:pPr algn="l">
              <a:lnSpc>
                <a:spcPct val="116000"/>
              </a:lnSpc>
            </a:pPr>
            <a:r>
              <a:rPr sz="1300" b="0">
                <a:solidFill>
                  <a:srgbClr val="1F1F1F"/>
                </a:solidFill>
                <a:latin typeface="Calibri"/>
              </a:rPr>
              <a:t>R$ 370 mil de produto em risco.</a:t>
            </a:r>
          </a:p>
          <a:p>
            <a:pPr algn="l">
              <a:lnSpc>
                <a:spcPct val="116000"/>
              </a:lnSpc>
            </a:pPr>
            <a:r>
              <a:rPr sz="1300" b="0">
                <a:solidFill>
                  <a:srgbClr val="1F1F1F"/>
                </a:solidFill>
                <a:latin typeface="Calibri"/>
              </a:rPr>
              <a:t/>
            </a:r>
          </a:p>
          <a:p>
            <a:pPr algn="l">
              <a:lnSpc>
                <a:spcPct val="116000"/>
              </a:lnSpc>
            </a:pPr>
            <a:r>
              <a:rPr sz="1300" b="0">
                <a:solidFill>
                  <a:srgbClr val="1F1F1F"/>
                </a:solidFill>
                <a:latin typeface="Calibri"/>
              </a:rPr>
              <a:t>→ aponta 2º problema operacional</a:t>
            </a:r>
          </a:p>
          <a:p>
            <a:pPr algn="l">
              <a:lnSpc>
                <a:spcPct val="116000"/>
              </a:lnSpc>
            </a:pPr>
            <a:r>
              <a:rPr sz="1300" b="0">
                <a:solidFill>
                  <a:srgbClr val="1F1F1F"/>
                </a:solidFill>
                <a:latin typeface="Calibri"/>
              </a:rPr>
              <a:t>(estoque + fulfillment).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E0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1F1F1F"/>
                </a:solidFill>
                <a:latin typeface="Calibri"/>
              </a:rPr>
              <a:t>Q1 — Por que NE e CO compram menos que o Sul?</a:t>
            </a:r>
          </a:p>
        </p:txBody>
      </p:sp>
      <p:pic>
        <p:nvPicPr>
          <p:cNvPr id="4" name="Picture 3" descr="geo_q1_oferta_fre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840298"/>
            <a:ext cx="7680960" cy="308596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66928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DE0078"/>
                </a:solidFill>
                <a:latin typeface="Calibri"/>
              </a:rPr>
              <a:t>Falta OFERTA LOCAL, não demanda. NE tem 56 sellers e CO 79 — vs. 668 no Sul. Quase tudo vem de longe → frete ~31% do preço no NE → só o pedido caro compensa → as compras pequenas (que dão volume ao Sul) somem.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6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300" b="1">
                <a:solidFill>
                  <a:srgbClr val="1F1F1F"/>
                </a:solidFill>
                <a:latin typeface="Calibri"/>
              </a:rPr>
              <a:t>Categorias confirmam: o frete molda o que cada região compra</a:t>
            </a:r>
          </a:p>
        </p:txBody>
      </p:sp>
      <p:pic>
        <p:nvPicPr>
          <p:cNvPr id="4" name="Picture 3" descr="geo_02_categoria_overind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29979"/>
            <a:ext cx="7132320" cy="5129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80960" y="1463040"/>
            <a:ext cx="420624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>
                <a:solidFill>
                  <a:srgbClr val="1F1F1F"/>
                </a:solidFill>
                <a:latin typeface="Calibri"/>
              </a:rPr>
              <a:t>O Nordeste FOGE do volumoso:</a:t>
            </a:r>
          </a:p>
          <a:p>
            <a:pPr algn="l">
              <a:lnSpc>
                <a:spcPct val="118000"/>
              </a:lnSpc>
            </a:pPr>
            <a:r>
              <a:rPr sz="1500" b="0">
                <a:solidFill>
                  <a:srgbClr val="1F1F1F"/>
                </a:solidFill>
                <a:latin typeface="Calibri"/>
              </a:rPr>
              <a:t>• Bed Bath Table −45%</a:t>
            </a:r>
          </a:p>
          <a:p>
            <a:pPr algn="l">
              <a:lnSpc>
                <a:spcPct val="118000"/>
              </a:lnSpc>
            </a:pPr>
            <a:r>
              <a:rPr sz="1500" b="0">
                <a:solidFill>
                  <a:srgbClr val="1F1F1F"/>
                </a:solidFill>
                <a:latin typeface="Calibri"/>
              </a:rPr>
              <a:t>• Housewares −39%</a:t>
            </a:r>
          </a:p>
          <a:p>
            <a:pPr algn="l">
              <a:lnSpc>
                <a:spcPct val="118000"/>
              </a:lnSpc>
            </a:pPr>
            <a:r>
              <a:rPr sz="1500" b="0">
                <a:solidFill>
                  <a:srgbClr val="1F1F1F"/>
                </a:solidFill>
                <a:latin typeface="Calibri"/>
              </a:rPr>
              <a:t>(frete proibitivo no pesado)</a:t>
            </a:r>
          </a:p>
          <a:p>
            <a:pPr algn="l">
              <a:lnSpc>
                <a:spcPct val="118000"/>
              </a:lnSpc>
            </a:pPr>
            <a:r>
              <a:rPr sz="1500" b="0">
                <a:solidFill>
                  <a:srgbClr val="1F1F1F"/>
                </a:solidFill>
                <a:latin typeface="Calibri"/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1500" b="0">
                <a:solidFill>
                  <a:srgbClr val="1F1F1F"/>
                </a:solidFill>
                <a:latin typeface="Calibri"/>
              </a:rPr>
              <a:t>E sobre-indexa no pequeno e caro:</a:t>
            </a:r>
          </a:p>
          <a:p>
            <a:pPr algn="l">
              <a:lnSpc>
                <a:spcPct val="118000"/>
              </a:lnSpc>
            </a:pPr>
            <a:r>
              <a:rPr sz="1500" b="0">
                <a:solidFill>
                  <a:srgbClr val="1F1F1F"/>
                </a:solidFill>
                <a:latin typeface="Calibri"/>
              </a:rPr>
              <a:t>• Health Beauty +41%</a:t>
            </a:r>
          </a:p>
          <a:p>
            <a:pPr algn="l">
              <a:lnSpc>
                <a:spcPct val="118000"/>
              </a:lnSpc>
            </a:pPr>
            <a:r>
              <a:rPr sz="1500" b="0">
                <a:solidFill>
                  <a:srgbClr val="1F1F1F"/>
                </a:solidFill>
                <a:latin typeface="Calibri"/>
              </a:rPr>
              <a:t>• Watches Gifts +22%</a:t>
            </a:r>
          </a:p>
          <a:p>
            <a:pPr algn="l">
              <a:lnSpc>
                <a:spcPct val="118000"/>
              </a:lnSpc>
            </a:pPr>
            <a:r>
              <a:rPr sz="1500" b="0">
                <a:solidFill>
                  <a:srgbClr val="1F1F1F"/>
                </a:solidFill>
                <a:latin typeface="Calibri"/>
              </a:rPr>
              <a:t>(leve, caro — 'vale' o frete)</a:t>
            </a:r>
          </a:p>
          <a:p>
            <a:pPr algn="l">
              <a:lnSpc>
                <a:spcPct val="118000"/>
              </a:lnSpc>
            </a:pPr>
            <a:r>
              <a:rPr sz="1500" b="0">
                <a:solidFill>
                  <a:srgbClr val="1F1F1F"/>
                </a:solidFill>
                <a:latin typeface="Calibri"/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1500" b="0">
                <a:solidFill>
                  <a:srgbClr val="1F1F1F"/>
                </a:solidFill>
                <a:latin typeface="Calibri"/>
              </a:rPr>
              <a:t>→ a demanda premium reprimida</a:t>
            </a:r>
          </a:p>
          <a:p>
            <a:pPr algn="l">
              <a:lnSpc>
                <a:spcPct val="118000"/>
              </a:lnSpc>
            </a:pPr>
            <a:r>
              <a:rPr sz="1500" b="0">
                <a:solidFill>
                  <a:srgbClr val="1F1F1F"/>
                </a:solidFill>
                <a:latin typeface="Calibri"/>
              </a:rPr>
              <a:t>aparece no próprio sortimento.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E0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1F1F1F"/>
                </a:solidFill>
                <a:latin typeface="Calibri"/>
              </a:rPr>
              <a:t>Q2 — O gargalo da entrega é o transporte, não o seller</a:t>
            </a:r>
          </a:p>
        </p:txBody>
      </p:sp>
      <p:pic>
        <p:nvPicPr>
          <p:cNvPr id="4" name="Picture 3" descr="geo_q2_gargalo_entreg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95285"/>
            <a:ext cx="7315200" cy="38503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63840" y="1463040"/>
            <a:ext cx="402336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>
                <a:solidFill>
                  <a:srgbClr val="1F1F1F"/>
                </a:solidFill>
                <a:latin typeface="Calibri"/>
              </a:rPr>
              <a:t>O seller despacha rápido e por igual em todo o país (~2 dias).</a:t>
            </a:r>
          </a:p>
          <a:p>
            <a:pPr algn="l">
              <a:lnSpc>
                <a:spcPct val="118000"/>
              </a:lnSpc>
            </a:pPr>
            <a:r>
              <a:rPr sz="1500" b="0">
                <a:solidFill>
                  <a:srgbClr val="1F1F1F"/>
                </a:solidFill>
                <a:latin typeface="Calibri"/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1500" b="0">
                <a:solidFill>
                  <a:srgbClr val="1F1F1F"/>
                </a:solidFill>
                <a:latin typeface="Calibri"/>
              </a:rPr>
              <a:t>A diferença é 100% TRANSPORTE:</a:t>
            </a:r>
          </a:p>
          <a:p>
            <a:pPr algn="l">
              <a:lnSpc>
                <a:spcPct val="118000"/>
              </a:lnSpc>
            </a:pPr>
            <a:r>
              <a:rPr sz="1500" b="0">
                <a:solidFill>
                  <a:srgbClr val="1F1F1F"/>
                </a:solidFill>
                <a:latin typeface="Calibri"/>
              </a:rPr>
              <a:t>6 dias no Sudeste →</a:t>
            </a:r>
          </a:p>
          <a:p>
            <a:pPr algn="l">
              <a:lnSpc>
                <a:spcPct val="118000"/>
              </a:lnSpc>
            </a:pPr>
            <a:r>
              <a:rPr sz="1500" b="0">
                <a:solidFill>
                  <a:srgbClr val="1F1F1F"/>
                </a:solidFill>
                <a:latin typeface="Calibri"/>
              </a:rPr>
              <a:t>14 dias no Nordeste.</a:t>
            </a:r>
          </a:p>
          <a:p>
            <a:pPr algn="l">
              <a:lnSpc>
                <a:spcPct val="118000"/>
              </a:lnSpc>
            </a:pPr>
            <a:r>
              <a:rPr sz="1500" b="0">
                <a:solidFill>
                  <a:srgbClr val="1F1F1F"/>
                </a:solidFill>
                <a:latin typeface="Calibri"/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1500" b="0">
                <a:solidFill>
                  <a:srgbClr val="1F1F1F"/>
                </a:solidFill>
                <a:latin typeface="Calibri"/>
              </a:rPr>
              <a:t>NE tem o pior cumprimento de promessa (87%) — a perna longa é a mais variável.</a:t>
            </a:r>
          </a:p>
          <a:p>
            <a:pPr algn="l">
              <a:lnSpc>
                <a:spcPct val="118000"/>
              </a:lnSpc>
            </a:pPr>
            <a:r>
              <a:rPr sz="1500" b="0">
                <a:solidFill>
                  <a:srgbClr val="1F1F1F"/>
                </a:solidFill>
                <a:latin typeface="Calibri"/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1500" b="0">
                <a:solidFill>
                  <a:srgbClr val="1F1F1F"/>
                </a:solidFill>
                <a:latin typeface="Calibri"/>
              </a:rPr>
              <a:t>→ pressionar o seller não move o NE/CO.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E0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13385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300" b="1">
                <a:solidFill>
                  <a:srgbClr val="1F1F1F"/>
                </a:solidFill>
                <a:latin typeface="Calibri"/>
              </a:rPr>
              <a:t>A prova: vendedor local entrega — e o que pesa é a distância</a:t>
            </a:r>
          </a:p>
        </p:txBody>
      </p:sp>
      <p:pic>
        <p:nvPicPr>
          <p:cNvPr id="4" name="Picture 3" descr="geo_q2_distancia_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081155"/>
            <a:ext cx="7680960" cy="2787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138160" y="1417320"/>
            <a:ext cx="3749039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400" b="0">
                <a:solidFill>
                  <a:srgbClr val="1F1F1F"/>
                </a:solidFill>
                <a:latin typeface="Calibri"/>
              </a:rPr>
              <a:t>Local × não-local:</a:t>
            </a:r>
          </a:p>
          <a:p>
            <a:pPr algn="l">
              <a:lnSpc>
                <a:spcPct val="116000"/>
              </a:lnSpc>
            </a:pPr>
            <a:r>
              <a:rPr sz="1400" b="0">
                <a:solidFill>
                  <a:srgbClr val="1F1F1F"/>
                </a:solidFill>
                <a:latin typeface="Calibri"/>
              </a:rPr>
              <a:t>• geral 8d vs 13d</a:t>
            </a:r>
          </a:p>
          <a:p>
            <a:pPr algn="l">
              <a:lnSpc>
                <a:spcPct val="116000"/>
              </a:lnSpc>
            </a:pPr>
            <a:r>
              <a:rPr sz="1400" b="0">
                <a:solidFill>
                  <a:srgbClr val="1F1F1F"/>
                </a:solidFill>
                <a:latin typeface="Calibri"/>
              </a:rPr>
              <a:t>• NE 11d/91% vs 17d/87%</a:t>
            </a:r>
          </a:p>
          <a:p>
            <a:pPr algn="l">
              <a:lnSpc>
                <a:spcPct val="116000"/>
              </a:lnSpc>
            </a:pPr>
            <a:r>
              <a:rPr sz="1400" b="0">
                <a:solidFill>
                  <a:srgbClr val="1F1F1F"/>
                </a:solidFill>
                <a:latin typeface="Calibri"/>
              </a:rPr>
              <a:t>• CO 7d/98% vs 13d/93%</a:t>
            </a:r>
          </a:p>
          <a:p>
            <a:pPr algn="l">
              <a:lnSpc>
                <a:spcPct val="116000"/>
              </a:lnSpc>
            </a:pPr>
            <a:r>
              <a:rPr sz="1400" b="0">
                <a:solidFill>
                  <a:srgbClr val="1F1F1F"/>
                </a:solidFill>
                <a:latin typeface="Calibri"/>
              </a:rPr>
              <a:t/>
            </a:r>
          </a:p>
          <a:p>
            <a:pPr algn="l">
              <a:lnSpc>
                <a:spcPct val="116000"/>
              </a:lnSpc>
            </a:pPr>
            <a:r>
              <a:rPr sz="1400" b="0">
                <a:solidFill>
                  <a:srgbClr val="1F1F1F"/>
                </a:solidFill>
                <a:latin typeface="Calibri"/>
              </a:rPr>
              <a:t>Por que o NE demora mesmo local?</a:t>
            </a:r>
          </a:p>
          <a:p>
            <a:pPr algn="l">
              <a:lnSpc>
                <a:spcPct val="116000"/>
              </a:lnSpc>
            </a:pPr>
            <a:r>
              <a:rPr sz="1400" b="0">
                <a:solidFill>
                  <a:srgbClr val="1F1F1F"/>
                </a:solidFill>
                <a:latin typeface="Calibri"/>
              </a:rPr>
              <a:t>DISTÂNCIA — o NE é enorme.</a:t>
            </a:r>
          </a:p>
          <a:p>
            <a:pPr algn="l">
              <a:lnSpc>
                <a:spcPct val="116000"/>
              </a:lnSpc>
            </a:pPr>
            <a:r>
              <a:rPr sz="1400" b="0">
                <a:solidFill>
                  <a:srgbClr val="1F1F1F"/>
                </a:solidFill>
                <a:latin typeface="Calibri"/>
              </a:rPr>
              <a:t/>
            </a:r>
          </a:p>
          <a:p>
            <a:pPr algn="l">
              <a:lnSpc>
                <a:spcPct val="116000"/>
              </a:lnSpc>
            </a:pPr>
            <a:r>
              <a:rPr sz="1400" b="0">
                <a:solidFill>
                  <a:srgbClr val="1F1F1F"/>
                </a:solidFill>
                <a:latin typeface="Calibri"/>
              </a:rPr>
              <a:t>Mesmo estado → 7 dias</a:t>
            </a:r>
          </a:p>
          <a:p>
            <a:pPr algn="l">
              <a:lnSpc>
                <a:spcPct val="116000"/>
              </a:lnSpc>
            </a:pPr>
            <a:r>
              <a:rPr sz="1400" b="0">
                <a:solidFill>
                  <a:srgbClr val="1F1F1F"/>
                </a:solidFill>
                <a:latin typeface="Calibri"/>
              </a:rPr>
              <a:t>(= Sudeste!)</a:t>
            </a:r>
          </a:p>
          <a:p>
            <a:pPr algn="l">
              <a:lnSpc>
                <a:spcPct val="116000"/>
              </a:lnSpc>
            </a:pPr>
            <a:r>
              <a:rPr sz="1400" b="0">
                <a:solidFill>
                  <a:srgbClr val="1F1F1F"/>
                </a:solidFill>
                <a:latin typeface="Calibri"/>
              </a:rPr>
              <a:t>Outro estado do NE → 13 dias</a:t>
            </a:r>
          </a:p>
          <a:p>
            <a:pPr algn="l">
              <a:lnSpc>
                <a:spcPct val="116000"/>
              </a:lnSpc>
            </a:pPr>
            <a:r>
              <a:rPr sz="1400" b="0">
                <a:solidFill>
                  <a:srgbClr val="1F1F1F"/>
                </a:solidFill>
                <a:latin typeface="Calibri"/>
              </a:rPr>
              <a:t/>
            </a:r>
          </a:p>
          <a:p>
            <a:pPr algn="l">
              <a:lnSpc>
                <a:spcPct val="116000"/>
              </a:lnSpc>
            </a:pPr>
            <a:r>
              <a:rPr sz="1400" b="0">
                <a:solidFill>
                  <a:srgbClr val="1F1F1F"/>
                </a:solidFill>
                <a:latin typeface="Calibri"/>
              </a:rPr>
              <a:t>→ não um hub único:</a:t>
            </a:r>
          </a:p>
          <a:p>
            <a:pPr algn="l">
              <a:lnSpc>
                <a:spcPct val="116000"/>
              </a:lnSpc>
            </a:pPr>
            <a:r>
              <a:rPr sz="1400" b="0">
                <a:solidFill>
                  <a:srgbClr val="1F1F1F"/>
                </a:solidFill>
                <a:latin typeface="Calibri"/>
              </a:rPr>
              <a:t>fulfillment por estado</a:t>
            </a:r>
          </a:p>
          <a:p>
            <a:pPr algn="l">
              <a:lnSpc>
                <a:spcPct val="116000"/>
              </a:lnSpc>
            </a:pPr>
            <a:r>
              <a:rPr sz="1400" b="0">
                <a:solidFill>
                  <a:srgbClr val="1F1F1F"/>
                </a:solidFill>
                <a:latin typeface="Calibri"/>
              </a:rPr>
              <a:t>(BA, PE, CE).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A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1F1F1F"/>
                </a:solidFill>
                <a:latin typeface="Calibri"/>
              </a:rPr>
              <a:t>A satisfação segue a promessa de entrega</a:t>
            </a:r>
          </a:p>
        </p:txBody>
      </p:sp>
      <p:pic>
        <p:nvPicPr>
          <p:cNvPr id="4" name="Picture 3" descr="geo_satisfacao_promess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081993"/>
            <a:ext cx="7863840" cy="315121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21040" y="1463040"/>
            <a:ext cx="356616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>
                <a:solidFill>
                  <a:srgbClr val="1F1F1F"/>
                </a:solidFill>
                <a:latin typeface="Calibri"/>
              </a:rPr>
              <a:t>Baseline (linha de partida):</a:t>
            </a: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1F1F1F"/>
                </a:solidFill>
                <a:latin typeface="Calibri"/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1F1F1F"/>
                </a:solidFill>
                <a:latin typeface="Calibri"/>
              </a:rPr>
              <a:t>🟥 Nordeste — 3,97</a:t>
            </a: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1F1F1F"/>
                </a:solidFill>
                <a:latin typeface="Calibri"/>
              </a:rPr>
              <a:t>(menor nota, maior alavanca)</a:t>
            </a: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1F1F1F"/>
                </a:solidFill>
                <a:latin typeface="Calibri"/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1F1F1F"/>
                </a:solidFill>
                <a:latin typeface="Calibri"/>
              </a:rPr>
              <a:t>🟨 Centro-Oeste — 4,13</a:t>
            </a: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1F1F1F"/>
                </a:solidFill>
                <a:latin typeface="Calibri"/>
              </a:rPr>
              <a:t>🟩 Sul — 4,19 (= Sudeste)</a:t>
            </a: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1F1F1F"/>
                </a:solidFill>
                <a:latin typeface="Calibri"/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1F1F1F"/>
                </a:solidFill>
                <a:latin typeface="Calibri"/>
              </a:rPr>
              <a:t>Welch t-test (no prazo × atraso):</a:t>
            </a: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1F1F1F"/>
                </a:solidFill>
                <a:latin typeface="Calibri"/>
              </a:rPr>
              <a:t>queda de ~2 estrelas,</a:t>
            </a: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1F1F1F"/>
                </a:solidFill>
                <a:latin typeface="Calibri"/>
              </a:rPr>
              <a:t>p ≈ 0 (significante).</a:t>
            </a: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1F1F1F"/>
                </a:solidFill>
                <a:latin typeface="Calibri"/>
              </a:rPr>
              <a:t>O atraso é o detrator nº 1.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E0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1F1F1F"/>
                </a:solidFill>
                <a:latin typeface="Calibri"/>
              </a:rPr>
              <a:t>Uma causa raiz, dois sintomas → o plano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0972800" cy="1051560"/>
          </a:xfrm>
          <a:prstGeom prst="rect">
            <a:avLst/>
          </a:prstGeom>
          <a:solidFill>
            <a:srgbClr val="F6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6070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F1F1F"/>
                </a:solidFill>
                <a:latin typeface="Calibri"/>
              </a:rPr>
              <a:t>Q1 (compram menos) e Q2 (entrega atrasa) têm a MESMA causa: a oferta está longe do cliente. Colocar oferta no NE/CO baixa o frete (mais compras) E encurta o transporte (cumpre a promessa).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514600"/>
            <a:ext cx="457200" cy="658368"/>
          </a:xfrm>
          <a:prstGeom prst="rect">
            <a:avLst/>
          </a:prstGeom>
          <a:solidFill>
            <a:srgbClr val="DE0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514600"/>
            <a:ext cx="4572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514600"/>
            <a:ext cx="6583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1F1F1F"/>
                </a:solidFill>
                <a:latin typeface="Calibri"/>
              </a:rPr>
              <a:t>Fulfillment distribuído por estado (BA, PE, CE)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880360"/>
            <a:ext cx="10424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8C8C8C"/>
                </a:solidFill>
                <a:latin typeface="Calibri"/>
              </a:rPr>
              <a:t>não um hub único · Q1 frete + Q2 transporte · NE 3,97→4,15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300984"/>
            <a:ext cx="457200" cy="658368"/>
          </a:xfrm>
          <a:prstGeom prst="rect">
            <a:avLst/>
          </a:prstGeom>
          <a:solidFill>
            <a:srgbClr val="DE0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300984"/>
            <a:ext cx="4572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300984"/>
            <a:ext cx="6583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1F1F1F"/>
                </a:solidFill>
                <a:latin typeface="Calibri"/>
              </a:rPr>
              <a:t>Recrutar sellers locais NE/CO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666744"/>
            <a:ext cx="10424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8C8C8C"/>
                </a:solidFill>
                <a:latin typeface="Calibri"/>
              </a:rPr>
              <a:t>nas categorias que sobre-indexam · 56→150+ por estado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087368"/>
            <a:ext cx="457200" cy="658368"/>
          </a:xfrm>
          <a:prstGeom prst="rect">
            <a:avLst/>
          </a:prstGeom>
          <a:solidFill>
            <a:srgbClr val="00A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87368"/>
            <a:ext cx="4572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4087368"/>
            <a:ext cx="6583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1F1F1F"/>
                </a:solidFill>
                <a:latin typeface="Calibri"/>
              </a:rPr>
              <a:t>Transportadora dedicada (corredor + intra-NE)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4453128"/>
            <a:ext cx="10424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8C8C8C"/>
                </a:solidFill>
                <a:latin typeface="Calibri"/>
              </a:rPr>
              <a:t>reduz variância do transporte · 90d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873752"/>
            <a:ext cx="457200" cy="658368"/>
          </a:xfrm>
          <a:prstGeom prst="rect">
            <a:avLst/>
          </a:prstGeom>
          <a:solidFill>
            <a:srgbClr val="00A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873752"/>
            <a:ext cx="4572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873752"/>
            <a:ext cx="6583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1F1F1F"/>
                </a:solidFill>
                <a:latin typeface="Calibri"/>
              </a:rPr>
              <a:t>Bundles regionais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5239512"/>
            <a:ext cx="10424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8C8C8C"/>
                </a:solidFill>
                <a:latin typeface="Calibri"/>
              </a:rPr>
              <a:t>categorias de sobre-indexação · sobe ticket/volume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5660136"/>
            <a:ext cx="457200" cy="658368"/>
          </a:xfrm>
          <a:prstGeom prst="rect">
            <a:avLst/>
          </a:prstGeom>
          <a:solidFill>
            <a:srgbClr val="00A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660136"/>
            <a:ext cx="4572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5660136"/>
            <a:ext cx="6583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1F1F1F"/>
                </a:solidFill>
                <a:latin typeface="Calibri"/>
              </a:rPr>
              <a:t>Recalibrar data prometida por rota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6025896"/>
            <a:ext cx="10424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8C8C8C"/>
                </a:solidFill>
                <a:latin typeface="Calibri"/>
              </a:rPr>
              <a:t>tático, até a oferta local crescer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A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1F1F1F"/>
                </a:solidFill>
                <a:latin typeface="Calibri"/>
              </a:rPr>
              <a:t>Quanto isso vale: simulação do cenário 30%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>
                <a:solidFill>
                  <a:srgbClr val="1F1F1F"/>
                </a:solidFill>
                <a:latin typeface="Calibri"/>
              </a:rPr>
              <a:t>Cenário-base: migrar 30% dos pedidos hoje despachados de FORA da região para sourcing local (aplicando o desempenho já observado nos pedidos locais). Números próprios — cenário, não previsão.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468880"/>
            <a:ext cx="2651760" cy="1554480"/>
          </a:xfrm>
          <a:prstGeom prst="rect">
            <a:avLst/>
          </a:prstGeom>
          <a:solidFill>
            <a:srgbClr val="F6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697480"/>
            <a:ext cx="2651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1">
                <a:solidFill>
                  <a:srgbClr val="DE0078"/>
                </a:solidFill>
                <a:latin typeface="Calibri"/>
              </a:rPr>
              <a:t>R$ 51 mil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3383280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1F1F1F"/>
                </a:solidFill>
                <a:latin typeface="Calibri"/>
              </a:rPr>
              <a:t>economia de frete/ano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3703320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>
                <a:solidFill>
                  <a:srgbClr val="8C8C8C"/>
                </a:solidFill>
                <a:latin typeface="Calibri"/>
              </a:rPr>
              <a:t>NE R$ 35,8k + CO R$ 15,4k</a:t>
            </a:r>
          </a:p>
        </p:txBody>
      </p:sp>
      <p:sp>
        <p:nvSpPr>
          <p:cNvPr id="9" name="Rectangle 8"/>
          <p:cNvSpPr/>
          <p:nvPr/>
        </p:nvSpPr>
        <p:spPr>
          <a:xfrm>
            <a:off x="3429000" y="2468880"/>
            <a:ext cx="2651760" cy="1554480"/>
          </a:xfrm>
          <a:prstGeom prst="rect">
            <a:avLst/>
          </a:prstGeom>
          <a:solidFill>
            <a:srgbClr val="F6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2697480"/>
            <a:ext cx="2651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1">
                <a:solidFill>
                  <a:srgbClr val="00A3A1"/>
                </a:solidFill>
                <a:latin typeface="Calibri"/>
              </a:rPr>
              <a:t>169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3383280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1F1F1F"/>
                </a:solidFill>
                <a:latin typeface="Calibri"/>
              </a:rPr>
              <a:t>atrasos evitados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3703320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>
                <a:solidFill>
                  <a:srgbClr val="8C8C8C"/>
                </a:solidFill>
                <a:latin typeface="Calibri"/>
              </a:rPr>
              <a:t>NE 92 + CO 77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468880"/>
            <a:ext cx="2651760" cy="1554480"/>
          </a:xfrm>
          <a:prstGeom prst="rect">
            <a:avLst/>
          </a:prstGeom>
          <a:solidFill>
            <a:srgbClr val="F6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2697480"/>
            <a:ext cx="2651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1">
                <a:solidFill>
                  <a:srgbClr val="1F1F1F"/>
                </a:solidFill>
                <a:latin typeface="Calibri"/>
              </a:rPr>
              <a:t>4.209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59" y="3383280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1F1F1F"/>
                </a:solidFill>
                <a:latin typeface="Calibri"/>
              </a:rPr>
              <a:t>pedidos otimizados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703320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>
                <a:solidFill>
                  <a:srgbClr val="8C8C8C"/>
                </a:solidFill>
                <a:latin typeface="Calibri"/>
              </a:rPr>
              <a:t>migração de 30% dos fluxos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06840" y="2468880"/>
            <a:ext cx="2651760" cy="1554480"/>
          </a:xfrm>
          <a:prstGeom prst="rect">
            <a:avLst/>
          </a:prstGeom>
          <a:solidFill>
            <a:srgbClr val="F6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06840" y="2697480"/>
            <a:ext cx="2651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1">
                <a:solidFill>
                  <a:srgbClr val="DE0078"/>
                </a:solidFill>
                <a:latin typeface="Calibri"/>
              </a:rPr>
              <a:t>+0,3★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8280" y="3383280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1F1F1F"/>
                </a:solidFill>
                <a:latin typeface="Calibri"/>
              </a:rPr>
              <a:t>nota dos migrados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3703320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>
                <a:solidFill>
                  <a:srgbClr val="8C8C8C"/>
                </a:solidFill>
                <a:latin typeface="Calibri"/>
              </a:rPr>
              <a:t>de 'não-local' p/ 'local'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48056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DE0078"/>
                </a:solidFill>
                <a:latin typeface="Calibri"/>
              </a:rPr>
              <a:t>A economia de frete financia a própria atração de sellers locais (recomendação #2). E os pedidos migrados ganham satisfação — que, sem recompra para diluir o CAC, é o que protege a primeira compra.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DE0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6070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FFFFFF"/>
                </a:solidFill>
                <a:latin typeface="Calibri"/>
              </a:rPr>
              <a:t>O mapa de receita não é destino —</a:t>
            </a:r>
          </a:p>
          <a:p>
            <a:pPr algn="l">
              <a:lnSpc>
                <a:spcPct val="110000"/>
              </a:lnSpc>
            </a:pPr>
            <a:r>
              <a:rPr sz="3000" b="1">
                <a:solidFill>
                  <a:srgbClr val="FFFFFF"/>
                </a:solidFill>
                <a:latin typeface="Calibri"/>
              </a:rPr>
              <a:t>é consequência de onde a oferta está.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56616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F6F3F4"/>
                </a:solidFill>
                <a:latin typeface="Calibri"/>
              </a:rPr>
              <a:t>NE e CO compram pouco E recebem atrasado pela mesma razão: não há vendedor por perto.</a:t>
            </a:r>
          </a:p>
          <a:p>
            <a:pPr algn="l">
              <a:lnSpc>
                <a:spcPct val="125000"/>
              </a:lnSpc>
            </a:pPr>
            <a:r>
              <a:rPr sz="1800" b="0">
                <a:solidFill>
                  <a:srgbClr val="F6F3F4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800" b="0">
                <a:solidFill>
                  <a:srgbClr val="F6F3F4"/>
                </a:solidFill>
                <a:latin typeface="Calibri"/>
              </a:rPr>
              <a:t>Aproximar a oferta — distribuída nos estados de maior demanda, não num hub único — converte a demanda premium e cumpre a promessa — medido pela satisfação dessas regiões.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85216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DE0078"/>
                </a:solidFill>
                <a:latin typeface="Calibri"/>
              </a:rPr>
              <a:t>Meta-norte: satisfação média do NE 3,97 → 4,15 · Centro-Oeste 4,13 → 4,20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